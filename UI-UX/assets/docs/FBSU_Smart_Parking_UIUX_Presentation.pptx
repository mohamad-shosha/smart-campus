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97280" cy="1097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22960" y="2423160"/>
            <a:ext cx="4114800" cy="411480"/>
          </a:xfrm>
          <a:prstGeom prst="roundRect">
            <a:avLst/>
          </a:prstGeom>
          <a:solidFill>
            <a:srgbClr val="116E63"/>
          </a:solidFill>
          <a:ln w="12700">
            <a:solidFill>
              <a:srgbClr val="D7A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OFFICIAL UNIVERSITY UI/UX PITCH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منظومة مواقف جامعة فهد بن سلطان الذكية (FBSU)</a:t>
            </a:r>
          </a:p>
          <a:p>
            <a:pPr>
              <a:spcBef>
                <a:spcPts val="800"/>
              </a:spcBef>
              <a:defRPr sz="1800" b="1">
                <a:solidFill>
                  <a:srgbClr val="D7A237"/>
                </a:solidFill>
              </a:defRPr>
            </a:pPr>
            <a:r>
              <a:t>AI Smart Parking &amp; Academic Flex-Share Ecosystem | Master UI/UX Architecture</a:t>
            </a:r>
          </a:p>
          <a:p>
            <a:pPr>
              <a:spcBef>
                <a:spcPts val="1200"/>
              </a:spcBef>
              <a:defRPr sz="1300">
                <a:solidFill>
                  <a:srgbClr val="94A3B8"/>
                </a:solidFill>
              </a:defRPr>
            </a:pPr>
            <a:r>
              <a:t>دراسة وتصميم تجربة المستخدم المتكاملة للقضاء على أزمة المواقف الجامعية عبر التبادل الذكي بين الطلاب وتقنيات الرؤية الحاسوبية (ALPR) وحساسات إنترنت الأشياء (IoT).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303520"/>
            <a:ext cx="10515600" cy="100584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11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المصمم الرئيسي لمنظومة التجربة والتفاعل: راكان البلوي (UI/UX Lead &amp; System Architect) | جامعة فهد بن سلطان - تبوك</a:t>
            </a:r>
          </a:p>
          <a:p>
            <a:pPr>
              <a:spcBef>
                <a:spcPts val="400"/>
              </a:spcBef>
              <a:defRPr sz="1100">
                <a:solidFill>
                  <a:srgbClr val="D7A237"/>
                </a:solidFill>
              </a:defRPr>
            </a:pPr>
            <a:r>
              <a:t>الهوية المعتمدة: أخضر الزمرد المؤسسي (#116E63) والذهب الأكاديمي (#d7a237) | متوافق 100% مع رؤية المملكة 2030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7A237"/>
                </a:solidFill>
              </a:defRPr>
            </a:pPr>
            <a:r>
              <a:t>01. PROBLEM STATEMENT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تحديات المواقف الحالية في الحرم الجامعي | The Campus Dilemma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594360" cy="594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08760"/>
            <a:ext cx="3328416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43F5E"/>
                </a:solidFill>
              </a:defRPr>
            </a:pPr>
            <a:r>
              <a:t>01. إهدار المواقف في البريك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40% من المواقف تظل محجوزة وفارغة لساعات طويلة بينما أصحابها خارج الجامعة في بريك دراسي (2 - 4 ساعات)، ولا يستطيع زملاؤهم القادمون للمحاضرات استخدامها!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508760"/>
            <a:ext cx="3328416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D7A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7A237"/>
                </a:solidFill>
              </a:defRPr>
            </a:pPr>
            <a:r>
              <a:t>02. وقت البحث والتأخر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يقضي الطالب أو عضو هيئة التدريس متوسط 14.2 دقيقة دوران متواصل للبحث عن موقف شاغر عند بوابات الكليات، مما يسبب تأخيراً عن المحاضرات وتكدساً مرورياً.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508760"/>
            <a:ext cx="3328416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11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9183"/>
                </a:solidFill>
              </a:defRPr>
            </a:pPr>
            <a:r>
              <a:t>03. تكلفة التوسعة الخرسانية</a:t>
            </a:r>
          </a:p>
          <a:p>
            <a:pPr>
              <a:spcBef>
                <a:spcPts val="1200"/>
              </a:spcBef>
              <a:defRPr sz="1200">
                <a:solidFill>
                  <a:srgbClr val="94A3B8"/>
                </a:solidFill>
              </a:defRPr>
            </a:pPr>
            <a:r>
              <a:t>بناء مواقف إسفلتية أو خرسانية جديدة يتطلب ملايين الريالات ومساحات أراضٍ واسعة، بينما الحل الذكي يكمن في استغلال الطاقة الاستيعابية المهدرة بنسبة 100%!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7A237"/>
                </a:solidFill>
              </a:defRPr>
            </a:pPr>
            <a:r>
              <a:t>02. THE INNOVATIVE SOLUTION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نموذج الحل المبتكر: منظومة التبادل الذكي المرن (Flex-Share)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7A237"/>
                </a:solidFill>
              </a:defRPr>
            </a:pPr>
            <a:r>
              <a:t>خوارزمية إعادة تخصيص المواقف بالذكاء الاصطناعي</a:t>
            </a:r>
          </a:p>
          <a:p>
            <a:pPr>
              <a:spcBef>
                <a:spcPts val="1000"/>
              </a:spcBef>
              <a:defRPr sz="1300">
                <a:solidFill>
                  <a:srgbClr val="94A3B8"/>
                </a:solidFill>
              </a:defRPr>
            </a:pPr>
            <a:r>
              <a:t>يقوم النظام بمطابقة الجداول الأكاديمية وحركة الخروج الفعلية عبر كاميرات ALPR:</a:t>
            </a:r>
            <a:br/>
            <a:br/>
            <a:r>
              <a:t>• رصد تلقائي للخروج: عند خروج الطالب في بريكه، تتعرف كاميرا البوابة على لوحته وتفتح موقفه للتبادل الذكي.</a:t>
            </a:r>
            <a:br/>
            <a:r>
              <a:t>• مطابقة لحظية مع القادمين: يحلل الذكاء الاصطناعي جداول الطلاب القادمين لنفس الكلية ويرسل إشعاراً فورياً بتخصيص الموقف الشاغر.</a:t>
            </a:r>
            <a:br/>
            <a:r>
              <a:t>• كاش باك فوري: يحصل الطالب المغادر على 17.25 ر.س في محفظته الجامعية كمكافأة، مما يخفض تكلفة اشتراكه بنسبة 50%!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5056632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D7A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si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4873752" cy="25213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7A237"/>
                </a:solidFill>
              </a:defRPr>
            </a:pPr>
            <a:r>
              <a:t>03. DESIGN SYSTEM &amp; ATOMIC TOKENS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نظام التصميم وهوية جامعة فهد بن سلطان | FBSU Master Tokens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لوحة ألوان مؤسسية دقيقة من موقع الجامعة (fbsu.edu.sa)</a:t>
            </a:r>
          </a:p>
          <a:p>
            <a:pPr>
              <a:spcBef>
                <a:spcPts val="1000"/>
              </a:spcBef>
              <a:defRPr sz="1250">
                <a:solidFill>
                  <a:srgbClr val="94A3B8"/>
                </a:solidFill>
              </a:defRPr>
            </a:pPr>
            <a:r>
              <a:t>• Spruce Teal (#116E63): اللون المؤسسي الرئيسي المعتمد لجامعة فهد بن سلطان، يعبر عن الثقة والاحترافية الأكاديمية.</a:t>
            </a:r>
            <a:br/>
            <a:br/>
            <a:r>
              <a:t>• Academic Gold (#d7a237): اللون الثانوي المميز للتبادل الذكي والذهب المعرفي المأخوذ من شعار الجامعة.</a:t>
            </a:r>
            <a:br/>
            <a:br/>
            <a:r>
              <a:t>• الوضعان الليلي والنهاري (Dual Themes): تجربة كاملة بالوضع الليلي الفاخر (Dark Mode) والوضع النهاري المؤسسي (Light Mode) لكل مكون دون استثناء.</a:t>
            </a:r>
            <a:br/>
            <a:br/>
            <a:r>
              <a:t>• رسومات الفيكتور النقية (Pure SVG): استبعاد كامل للإيموجي واستبدالها بأيقونات هندسية ورسوم سيارات SVG دقيقة.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39512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11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figma_tok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056632" cy="24888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7A237"/>
                </a:solidFill>
              </a:defRPr>
            </a:pPr>
            <a:r>
              <a:t>04. INTERACTIVE PARKING GRID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المخطط الرقمي المباشر: شبكة الـ 30 موقفاً | Live 30-Bay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7A237"/>
                </a:solidFill>
              </a:defRPr>
            </a:pPr>
            <a:r>
              <a:t>مصفوفة المواقف الـ 30 وحساسات IoT المتصلة</a:t>
            </a:r>
          </a:p>
          <a:p>
            <a:pPr>
              <a:spcBef>
                <a:spcPts val="1000"/>
              </a:spcBef>
              <a:defRPr sz="1250">
                <a:solidFill>
                  <a:srgbClr val="94A3B8"/>
                </a:solidFill>
              </a:defRPr>
            </a:pPr>
            <a:r>
              <a:t>• تقسيم جغرافي دقيق للكليات: قطاع A (الحاسب والهندسة)، قطاع B (الأعمال والطب)، قطاع C (كادر التدريس VIP)، وقطاع D (شحن EV وهمم).</a:t>
            </a:r>
            <a:br/>
            <a:br/>
            <a:r>
              <a:t>• بطاقات المواقف التفاعلية: عرض رقم الموقف، الكلية التابع لها، اسم السائق (د. الغامدي، إياد، راكان...)، حالة الحساس، والوقت المتبقي.</a:t>
            </a:r>
            <a:br/>
            <a:br/>
            <a:r>
              <a:t>• تجاوب 100% على الجوال: تتحول الشبكة تلقائياً إلى عمودين عريضين على شاشات الهواتف مع الحفاظ على وضوح سيارات الفيكتور.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513832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11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parking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5330952" cy="27578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7A237"/>
                </a:solidFill>
              </a:defRPr>
            </a:pPr>
            <a:r>
              <a:t>05. USER JOURNEY SIMULATOR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سيناريو رحلة المستخدم: إياد وراكان (Eyad &amp; Rakan Storyboard)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594360" cy="594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486400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D7A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sim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5303520" cy="2743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7A237"/>
                </a:solidFill>
              </a:defRPr>
            </a:pPr>
            <a:r>
              <a:t>5 خطوات زمنية تحاكي سيناريو واقعي للتبادل الذكي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1. 08:00 AM: إياد يصل لكليته ويركن في موقفه #01.</a:t>
            </a:r>
            <a:br/>
            <a:r>
              <a:t>2. 10:00 AM: إياد يغادر في بريك 3.5 ساعات، والنظام يحول موقفه لـ Flex Share.</a:t>
            </a:r>
            <a:br/>
            <a:r>
              <a:t>3. 10:05 AM: الذكاء الاصطناعي يطابق جدول راكان ويرسل إشعار حجز فوري له.</a:t>
            </a:r>
            <a:br/>
            <a:r>
              <a:t>4. 10:15 AM: راكان يصل إلى البوابة، تقرأ الكاميرا لوحته ويركن في ثوانٍ.</a:t>
            </a:r>
            <a:br/>
            <a:r>
              <a:t>5. 01:30 PM: راكان يغادر وإياد يعود ليجد موقفه جاهزاً، ويحصل على 17.25 ر.س كاش في محفظته!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7A237"/>
                </a:solidFill>
              </a:defRPr>
            </a:pPr>
            <a:r>
              <a:t>06. COMPUTER VISION &amp; GATE OCR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بوابة كاميرات التعرف التلقائي على اللوحات (ALPR Vision)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9183"/>
                </a:solidFill>
              </a:defRPr>
            </a:pPr>
            <a:r>
              <a:t>الرؤية الحاسوبية والتحقق الفوري من التصريح</a:t>
            </a:r>
          </a:p>
          <a:p>
            <a:pPr>
              <a:spcBef>
                <a:spcPts val="1000"/>
              </a:spcBef>
              <a:defRPr sz="1250">
                <a:solidFill>
                  <a:srgbClr val="94A3B8"/>
                </a:solidFill>
              </a:defRPr>
            </a:pPr>
            <a:r>
              <a:t>• دقة 99.4% في قراءة اللوحات السعودية: كاميرات بدقة 4K مع معالجة ليزرية فورية للتعرف على الحروف العربية والأرقام الإنجليزية للوحة.</a:t>
            </a:r>
            <a:br/>
            <a:br/>
            <a:r>
              <a:t>• فتح الذراع آلياً دون توقف: عند تطابق اللوحة مع حجز نشط، يفتح ذراع الحاجز فوراً بزاوية 90 درجة مع ضوء أخضر وشاشة إرشادية للموقف.</a:t>
            </a:r>
            <a:br/>
            <a:br/>
            <a:r>
              <a:t>• محاكاة فحص حية: تتيح الواجهة تجربة فحص سيارات متعددة (كامري إياد، سوناتا راكان، جينيسيس د. الغامدي، وزائر خارجي).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513832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11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alpr_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5330952" cy="2623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7A237"/>
                </a:solidFill>
              </a:defRPr>
            </a:pPr>
            <a:r>
              <a:t>07. BOOKING WIZARD &amp; TARIFF PASS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معالج الحجز والتسعيرة الأكاديمية والتصريح الرقمي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594360" cy="594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486400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D7A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5_booking_recei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5303520" cy="26103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7A237"/>
                </a:solidFill>
              </a:defRPr>
            </a:pPr>
            <a:r>
              <a:t>حجز ذكي متوافق مع جدول المحاضرات الأكاديمي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أنماط الجداول الجامعية: مطابقة جداول (أحد/ثلاثاء)، (اثنين/أربعاء)، والخميس (معامل ولابات).</a:t>
            </a:r>
            <a:br/>
            <a:br/>
            <a:r>
              <a:t>• هيكل التعرفة الذكية:</a:t>
            </a:r>
            <a:br/>
            <a:r>
              <a:t>  - تعرفة بالساعة: 5.75 ر.س / س</a:t>
            </a:r>
            <a:br/>
            <a:r>
              <a:t>  - سقف يومي أقصى: 15.00 ر.س / يوم</a:t>
            </a:r>
            <a:br/>
            <a:r>
              <a:t>  - اشتراك شهري: 225 ر.س (بخصم 50% لمشاركي التبادل)</a:t>
            </a:r>
            <a:br/>
            <a:br/>
            <a:r>
              <a:t>• إصدار التصريح الرقمي (FBSU PASS): بطاقة دخول ذكية بكود QR ونظام فتح بالـ NFC عند الاقتراب.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7A237"/>
                </a:solidFill>
              </a:defRPr>
            </a:pPr>
            <a:r>
              <a:t>08. SMART WALLET &amp; REWARDS LEDGER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المحفظة الجامعية الذكية وسجل العمليات المالية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7A237"/>
                </a:solidFill>
              </a:defRPr>
            </a:pPr>
            <a:r>
              <a:t>محفظة رقمية مدمجة مع نظام الدفع الوطني (مدى / Apple Pay)</a:t>
            </a:r>
          </a:p>
          <a:p>
            <a:pPr>
              <a:spcBef>
                <a:spcPts val="1000"/>
              </a:spcBef>
              <a:defRPr sz="1250">
                <a:solidFill>
                  <a:srgbClr val="94A3B8"/>
                </a:solidFill>
              </a:defRPr>
            </a:pPr>
            <a:r>
              <a:t>• بطاقة افتراضية للمستفيد: توضح رصيد الطالب المتاح، رقمه الجامعي، ورقم موقفه المخصص.</a:t>
            </a:r>
            <a:br/>
            <a:br/>
            <a:r>
              <a:t>• إيداع فوري لأرباح التبادل: تُضاف مكافآت مشاركة الموقف (+17.25 ر.س، +11.50 ر.س) تلقائياً للمحفظة مع إشعار فوري.</a:t>
            </a:r>
            <a:br/>
            <a:br/>
            <a:r>
              <a:t>• سجل عمليات مالي مفصل (5-Row Ledger): يوثق كافة حركات الخصم للحجز، الشحن عبر مدى، وإيداعات الكاش باك بدقة بنكية متناهية.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513832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D7A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wallet_mod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5330952" cy="2623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7A237"/>
                </a:solidFill>
              </a:defRPr>
            </a:pPr>
            <a:r>
              <a:t>09. AI ANALYTICS &amp; PEAK DEMAND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لوحة تحليلات الذكاء الاصطناعي ومؤشرات الأداء (KPIs)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594360" cy="594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463040"/>
            <a:ext cx="5486400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11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5303520" cy="261032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B9183"/>
                </a:solidFill>
              </a:defRPr>
            </a:pPr>
            <a:r>
              <a:t>الأثر التشغيلي والنتائج المحققة للمنظومة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+42% زيادة فعلية في السعة الاستيعابية: تم استغلال الشواغر المهدرة أثناء البريكات دون بناء أي مواقف إسفلتية جديدة.</a:t>
            </a:r>
            <a:br/>
            <a:br/>
            <a:r>
              <a:t>• 14.2 دقيقة توفير في وقت كل طالب: القضاء التام على ظاهرة الدوران والبحث عن مواقف داخل الحرم الجامعي.</a:t>
            </a:r>
            <a:br/>
            <a:br/>
            <a:r>
              <a:t>• 98.8% نسبة رضا الطلاب والدكاترة: استناداً إلى استبيانات عمادة شؤون الطلاب بجامعة فهد بن سلطان بتبوك.</a:t>
            </a:r>
            <a:br/>
            <a:br/>
            <a:r>
              <a:t>• خريطة حرارية للطلب: تحليل فترات الذروة من 08:00 ص حتى 03:00 م وتوزيع الطاقة التشغيلية.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7A237"/>
                </a:solidFill>
              </a:defRPr>
            </a:pPr>
            <a:r>
              <a:t>10. MULTI-DEVICE RESPONSIVENESS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الهندسة المتجاوبة: تجربة موحدة عبر كافة الشاشات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7A237"/>
                </a:solidFill>
              </a:defRPr>
            </a:pPr>
            <a:r>
              <a:t>تصميم متكيف بالكامل (Desktop, Tablet, Mobile)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</a:defRPr>
            </a:pPr>
            <a:r>
              <a:t>• شاشات سطح المكتب (1920px &amp; 1440px): لوحات تحكم موسعة، شبكة مواقف 6 أعمدة، وعرض جانبي مزدوج للأوضاع الليلي والنهاري.</a:t>
            </a:r>
            <a:br/>
            <a:br/>
            <a:r>
              <a:t>• أجهزة التابلت (768px - 1024px): تخطيط متوازن ثلاثي الأعمدة مع أزرار تنقل لمسية عريضة.</a:t>
            </a:r>
            <a:br/>
            <a:br/>
            <a:r>
              <a:t>• شاشات الجوال (360px - 480px): شبكة مواقف بعمودين مريحين للمشاهدة واللمس، أشرطة تنقل أفقية انسيابية (Swipeable Ribbons)، وانعدام كامل للتمرير العرضي (Zero Horizontal Overflow).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5513832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D7A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figma_de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5330952" cy="2623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7A237"/>
                </a:solidFill>
              </a:defRPr>
            </a:pPr>
            <a:r>
              <a:t>11. VISION 2030 &amp; STRATEGIC VALUE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التوافق مع رؤية المملكة 2030 وخارطة التطوير القادمة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1E3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0" y="320040"/>
            <a:ext cx="594360" cy="594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508760"/>
            <a:ext cx="3328416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استدامة الحرم الجامعي الأخضر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تقليل انبعاثات الكربون الناتجة عن دوران السيارات المستمر للبحث عن مواقف، ودعم شبكات شحن السيارات الكهربائية (EV) في قطاع D بالجامعة.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508760"/>
            <a:ext cx="3328416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D7A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D7A237"/>
                </a:solidFill>
              </a:defRPr>
            </a:pPr>
            <a:r>
              <a:t>التحول الرقمي والذكاء الاصطناعي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تحويل جامعة فهد بن سلطان إلى نموذج وطني رائد للحرم الجامعي الذكي (Smart Campus) المستند على إنترنت الأشياء والتعلم الآلي وقراءة اللوحات.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83296" y="1508760"/>
            <a:ext cx="3328416" cy="4572000"/>
          </a:xfrm>
          <a:prstGeom prst="roundRect">
            <a:avLst/>
          </a:prstGeom>
          <a:solidFill>
            <a:srgbClr val="0E201D"/>
          </a:solidFill>
          <a:ln w="12700">
            <a:solidFill>
              <a:srgbClr val="116E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B9183"/>
                </a:solidFill>
              </a:defRPr>
            </a:pPr>
            <a:r>
              <a:t>جودة الحياة ورفاهية الطلاب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تعزيز روح التكافل والمشاركة بين الطلاب (الاقتصاد التشاركي)، وتمكينهم من تحقيق دخل إضافي في محافظهم يغطي مصاريفهم الأكاديمية.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2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bsu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8872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2560320"/>
            <a:ext cx="94457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D7A237"/>
                </a:solidFill>
              </a:defRPr>
            </a:pPr>
            <a:r>
              <a:t>شكراً لكم | جاهزون للأسئلة والاستفسارات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منظومة مواقف جامعة فهد بن سلطان الذكية (FBSU Smart AI Parking)</a:t>
            </a:r>
          </a:p>
          <a:p>
            <a:pPr algn="ctr"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الموقع التفاعلي الحي المباشر: temporary-fleet-marimba-2974tio.vercel.app/app.html</a:t>
            </a:r>
            <a:br/>
            <a:r>
              <a:t>معرض نظام التصميم فيجما: temporary-fleet-marimba-2974tio.vercel.app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